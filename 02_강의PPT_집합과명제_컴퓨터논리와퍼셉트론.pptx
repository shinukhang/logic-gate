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C5FD"/>
                </a:solidFill>
                <a:latin typeface="맑은 고딕"/>
              </a:defRPr>
            </a:pPr>
            <a:r>
              <a:t>고등학교 1학년 수학 융합 아카데미아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수학적 논리에서 인공지능까지</a:t>
            </a:r>
          </a:p>
          <a:p>
            <a:pPr>
              <a:spcBef>
                <a:spcPts val="800"/>
              </a:spcBef>
              <a:defRPr sz="2200">
                <a:solidFill>
                  <a:srgbClr val="E2E8F0"/>
                </a:solidFill>
                <a:latin typeface="맑은 고딕"/>
              </a:defRPr>
            </a:pPr>
            <a:r>
              <a:t>: 집합과 명제로 이해하는 컴퓨터 연산과 퍼셉트론(Perceptron)</a:t>
            </a:r>
          </a:p>
          <a:p>
            <a:pPr>
              <a:spcBef>
                <a:spcPts val="2800"/>
              </a:spcBef>
              <a:defRPr sz="1400">
                <a:solidFill>
                  <a:srgbClr val="FDE047"/>
                </a:solidFill>
                <a:latin typeface="맑은 고딕"/>
              </a:defRPr>
            </a:pPr>
            <a:r>
              <a:t>■ 1~2차시 강의  |  ■ 3차시 파이썬 IDLE 실습  |  ■ 4차시 세특 연계 보고서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1. 생각 열기 : 컴퓨터는 어떻게 생각할까?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기계의 물리적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전압이 높음 (High, 5V) → 1</a:t>
            </a:r>
            <a:br/>
            <a:r>
              <a:t>• 전압이 낮음 (Low, 0V) → 0</a:t>
            </a:r>
            <a:br/>
            <a:br/>
            <a:r>
              <a:t>컴퓨터의 본체는 전기가 통하느냐 안 통하느냐만을 구분하는 수억 개의 스위치(트랜지스터)입니다.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인간의 논리적 사고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• 참 (True) : 명제가 사실임</a:t>
            </a:r>
            <a:br/>
            <a:r>
              <a:t>• 거짓 (False) : 명제가 사실 아님</a:t>
            </a:r>
            <a:br/>
            <a:br/>
            <a:r>
              <a:t>인간은 명제와 조건을 조합하여 논리적 추론과 의사결정을 내립니다.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조지 불의 혁신 (1854)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맑은 고딕"/>
              </a:defRPr>
            </a:pPr>
            <a:r>
              <a:t>★ 불리언 대수 (Boolean Algebra)</a:t>
            </a:r>
            <a:br/>
            <a:br/>
            <a:r>
              <a:t>'참/거짓'을 '1과 0'에 대응시켜 인간의 사고 과정을 수학적 방정식으로 완벽히 표현함!</a:t>
            </a:r>
            <a:br/>
            <a:br/>
            <a:r>
              <a:t>→ 현대 컴퓨터 공학과 인공지능의 시발점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2. 명제(Proposition)와 Boolean 자료형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수학에서의 명제 (공통수학2)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■ 정의: 참(True) 또는 거짓(False)을 명확하게 판별할 수 있는 문장이나 식</a:t>
            </a:r>
            <a:br/>
            <a:br/>
            <a:r>
              <a:t>[예시 분석]</a:t>
            </a:r>
            <a:br/>
            <a:r>
              <a:t>• '4는 짝수이다.' → 참인 명제 (True, 1)</a:t>
            </a:r>
            <a:br/>
            <a:r>
              <a:t>• '3은 5보다 크다.' → 거짓인 명제 (False, 0)</a:t>
            </a:r>
            <a:br/>
            <a:r>
              <a:t>• 'x는 큰 수이다.' → 명제가 아님 (기준 모호)</a:t>
            </a:r>
            <a:br/>
            <a:r>
              <a:t>• 'x + 1 = 3' → 조건 (x 값에 따라 참/거짓 결정)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컴퓨터 과학 &amp; 파이썬에서의 불(bool)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8A"/>
                </a:solidFill>
                <a:latin typeface="맑은 고딕"/>
              </a:defRPr>
            </a:pPr>
            <a:r>
              <a:t>■ Python의 bool 타입</a:t>
            </a:r>
            <a:br/>
            <a:r>
              <a:t>• True (정수 1로 취급)</a:t>
            </a:r>
            <a:br/>
            <a:r>
              <a:t>• False (정수 0으로 취급)</a:t>
            </a:r>
            <a:br/>
            <a:br/>
            <a:r>
              <a:t>[코드 매핑]</a:t>
            </a:r>
            <a:br/>
            <a:r>
              <a:t>&gt;&gt;&gt; is_even = (4 % 2 == 0) # True</a:t>
            </a:r>
            <a:br/>
            <a:r>
              <a:t>&gt;&gt;&gt; is_greater = (3 &gt; 5)   # False</a:t>
            </a:r>
            <a:br/>
            <a:r>
              <a:t>&gt;&gt;&gt; print(int(True))       # 1 출력</a:t>
            </a:r>
            <a:br/>
            <a:r>
              <a:t>&gt;&gt;&gt; print(int(False))      # 0 출력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3. 조건(Condition)과 진리집합(Truth Set)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조건을 집합으로 번역하는 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진리집합의 정의</a:t>
            </a:r>
            <a:br/>
            <a:r>
              <a:t>   전체집합 U의 원소 중에서 조건 p(x)를 참(True)이 되게 하는 모든 원소의 집합 P</a:t>
            </a:r>
            <a:br/>
            <a:r>
              <a:t>   P = { x ∈ U | p(x) 는 참 }</a:t>
            </a:r>
            <a:br/>
            <a:br/>
            <a:r>
              <a:t>■ 실습 예시</a:t>
            </a:r>
            <a:br/>
            <a:r>
              <a:t>   전체집합 U = { 1, 2, 3, 4, 5, 6, 7, 8, 9, 10 }</a:t>
            </a:r>
            <a:br/>
            <a:r>
              <a:t>   • 조건 p(x) : 'x는 12의 약수이다'  →  진리집합 P = { 1, 2, 3, 4, 6 }</a:t>
            </a:r>
            <a:br/>
            <a:r>
              <a:t>   • 조건 q(x) : 'x는 짝수이다'       →  진리집합 Q = { 2, 4, 6, 8, 10 }</a:t>
            </a:r>
            <a:br/>
            <a:br/>
            <a:r>
              <a:t>★ 파이썬 컴프리헨션(Set Comprehension)과의 일치:</a:t>
            </a:r>
            <a:br/>
            <a:r>
              <a:t>   P = {x for x in U if 12 % x == 0}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4. 명제의 결합과 집합 연산의 1:1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수학과 정보 교과의 기호 대응표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2103120"/>
          <a:ext cx="10149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  <a:gridCol w="2537460"/>
                <a:gridCol w="2537460"/>
              </a:tblGrid>
              <a:tr h="6949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명제 논리 연산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수학 기호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집합 연산 (진리집합)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파이썬 연산자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논리곱 (그리고, AND)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∧ 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∩ Q (교집합)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and q  또는  P &amp; Q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논리합 (또는, 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∨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∪ Q (합집합)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or q   또는  P |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부정 (Not)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~p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P^c (여집합: U - 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not p    또는  U - 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배타적 논리합 (XOR)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⊕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(P - Q) ∪ (Q - P) (대칭차집합)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 ^ q    또는  P ^ 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5. 수학의 정리: 드모르간 법칙 (De Morgan's Laws)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수학 공식 (집합 &amp; 명제)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집합에서의 드모르간 법칙</a:t>
            </a:r>
            <a:br/>
            <a:r>
              <a:t>1) (A ∪ B)^c = A^c ∩ B^c</a:t>
            </a:r>
            <a:br/>
            <a:r>
              <a:t>2) (A ∩ B)^c = A^c ∪ B^c</a:t>
            </a:r>
            <a:br/>
            <a:br/>
            <a:r>
              <a:t>■ 명제 논리에서의 드모르간 법칙</a:t>
            </a:r>
            <a:br/>
            <a:r>
              <a:t>1) ~(p ∨ q) ≡ ~p ∧ ~q</a:t>
            </a:r>
            <a:br/>
            <a:r>
              <a:t>2) ~(p ∧ q) ≡ ~p ∨ ~q</a:t>
            </a:r>
            <a:br/>
            <a:br/>
            <a:r>
              <a:t>'합집합의 여집합은 여집합의 교집합과 같다!'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컴퓨터 회로에서의 의미 (비용 절감)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8A"/>
                </a:solidFill>
                <a:latin typeface="맑은 고딕"/>
              </a:defRPr>
            </a:pPr>
            <a:r>
              <a:t>■ 디지털 하드웨어 최적화</a:t>
            </a:r>
            <a:br/>
            <a:r>
              <a:t>• AND 회로와 OR 회로를 각각 따로 만들 필요 없이, 단 하나의 만능 게이트(NAND)로 모두 변환 가능!</a:t>
            </a:r>
            <a:br/>
            <a:br/>
            <a:r>
              <a:t>■ 드모르간 법칙의 하드웨어 표현:</a:t>
            </a:r>
            <a:br/>
            <a:r>
              <a:t>   NAND 게이트 ≡ 입력이 반전된 OR 회로</a:t>
            </a:r>
            <a:br/>
            <a:r>
              <a:t>   NOR 게이트  ≡ 입력이 반전된 AND 회로</a:t>
            </a:r>
            <a:br/>
            <a:br/>
            <a:r>
              <a:t>→ 반도체 칩 면적과 제조 비용을 획기적으로 감축!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6. 명제 p → q의 참·거짓과 진리집합의 포함관계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참인 명제 : P ⊆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■ 명제 p → q가 참(True)일 조건:</a:t>
            </a:r>
            <a:br/>
            <a:r>
              <a:t>   조건 p의 진리집합 P가 조건 q의 진리집합 Q에 완전히 포함될 때 (P ⊆ Q)</a:t>
            </a:r>
            <a:br/>
            <a:br/>
            <a:r>
              <a:t>[예시]</a:t>
            </a:r>
            <a:br/>
            <a:r>
              <a:t>• p: x는 4의 배수 (P = {4, 8, 12, ...})</a:t>
            </a:r>
            <a:br/>
            <a:r>
              <a:t>• q: x는 2의 배수 (Q = {2, 4, 6, 8, 10, 12, ...})</a:t>
            </a:r>
            <a:br/>
            <a:r>
              <a:t>→ P ⊆ Q 이므로 'x가 4의 배수이면 x는 2의 배수이다'는 참!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거짓인 명제 : P ⊄ Q (반례의 존재)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■ 명제 p → q가 거짓(False)일 조건:</a:t>
            </a:r>
            <a:br/>
            <a:r>
              <a:t>   P의 원소 중 Q에 속하지 않는 원소가 단 하나라도 존재할 때 (P - Q ≠ ∅)</a:t>
            </a:r>
            <a:br/>
            <a:br/>
            <a:r>
              <a:t>★ 반례 (Counterexample):</a:t>
            </a:r>
            <a:br/>
            <a:r>
              <a:t>   x ∈ P 이지만 x ∉ Q 인 원소 x</a:t>
            </a:r>
            <a:br/>
            <a:br/>
            <a:r>
              <a:t>[예시]</a:t>
            </a:r>
            <a:br/>
            <a:r>
              <a:t>• 'x가 2의 배수이면 x는 4의 배수이다'의 반례: x = 2, 6, 10...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7. 명제의 역·이·대우와 대우증명법의 원리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명제 간의 관계와 논리적 동치성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명제의 변형</a:t>
            </a:r>
            <a:br/>
            <a:r>
              <a:t>   • 원명제: p → q</a:t>
            </a:r>
            <a:br/>
            <a:r>
              <a:t>   • 역 (Converse): q → p</a:t>
            </a:r>
            <a:br/>
            <a:r>
              <a:t>   • 대우 (Contrapositive): ~q → ~p</a:t>
            </a:r>
            <a:br/>
            <a:br/>
            <a:r>
              <a:t>■ 대우의 핵심 성질: '원명제와 대우는 참·거짓이 항상 일치한다!'</a:t>
            </a:r>
            <a:br/>
            <a:r>
              <a:t>   [수학적 증명 via 집합론]</a:t>
            </a:r>
            <a:br/>
            <a:r>
              <a:t>   P ⊆ Q  ⟺  Q^c ⊆ P^c</a:t>
            </a:r>
            <a:br/>
            <a:br/>
            <a:r>
              <a:t>★ 대우증명법의 활용:</a:t>
            </a:r>
            <a:br/>
            <a:r>
              <a:t>   직접 증명하기 까다로운 명제(예: 'n^2이 짝수이면 n도 짝수이다')를</a:t>
            </a:r>
            <a:br/>
            <a:r>
              <a:t>   대우('n이 홀수이면 n^2도 홀수이다')로 바꾸어 아주 쉽게 증명!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8. 필요조건과 충분조건의 직관적/수학적 판별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충분조건 (Sufficient)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맑은 고딕"/>
              </a:defRPr>
            </a:pPr>
            <a:r>
              <a:t>• 기호: p ⟹ q (P ⊆ Q)</a:t>
            </a:r>
            <a:br/>
            <a:r>
              <a:t>• 의미: p이기만 하면 q가 되기에 '충분'함</a:t>
            </a:r>
            <a:br/>
            <a:r>
              <a:t>• 주어 p는 더 작은(구체적인) 집합</a:t>
            </a:r>
            <a:br/>
            <a:br/>
            <a:r>
              <a:t>예: '정삼각형'은 '이등변삼각형'이기 위한 충분조건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필요조건 (Necessary)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  <a:latin typeface="맑은 고딕"/>
              </a:defRPr>
            </a:pPr>
            <a:r>
              <a:t>• 기호: q ⟹ p (Q ⊆ P)</a:t>
            </a:r>
            <a:br/>
            <a:r>
              <a:t>• 의미: p가 되기 위해 q는 '반드시 필요'한 바탕</a:t>
            </a:r>
            <a:br/>
            <a:r>
              <a:t>• 주어 p는 더 큰(포괄적인) 집합</a:t>
            </a:r>
            <a:br/>
            <a:br/>
            <a:r>
              <a:t>예: '이등변삼각형'은 '정삼각형'이기 위한 필요조건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필요충분조건 (Equivalent)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116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맑은 고딕"/>
              </a:defRPr>
            </a:pPr>
            <a:r>
              <a:t>• 기호: p ⟺ q (P = Q)</a:t>
            </a:r>
            <a:br/>
            <a:r>
              <a:t>• 의미: 두 조건이 완전히 동치</a:t>
            </a:r>
            <a:br/>
            <a:r>
              <a:t>• 서로가 서로에게 필요하면서 충분함</a:t>
            </a:r>
            <a:br/>
            <a:br/>
            <a:r>
              <a:t>예: 'x = 2'와 '2x - 4 = 0'은 필요충분조건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9. 인공지능의 시초: 퍼셉트론(Perceptron)의 수리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퍼셉트론의 구조 (1958, 프랑크 로젠블랫)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뇌의 뉴런을 모방한 인공신경망의 기본 단위</a:t>
            </a:r>
            <a:br/>
            <a:r>
              <a:t>• 입력 신호: x1, x2 (0 또는 1)</a:t>
            </a:r>
            <a:br/>
            <a:r>
              <a:t>• 가중치(Weight): w1, w2 (입력의 중요도)</a:t>
            </a:r>
            <a:br/>
            <a:r>
              <a:t>• 편향(Bias): b (뉴런의 활성화 임계값)</a:t>
            </a:r>
            <a:br/>
            <a:br/>
            <a:r>
              <a:t>■ 총 입력합 계산:</a:t>
            </a:r>
            <a:br/>
            <a:r>
              <a:t>   z = w1*x1 + w2*x2 +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활성화 함수 (Step Function)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8A"/>
                </a:solidFill>
                <a:latin typeface="맑은 고딕"/>
              </a:defRPr>
            </a:pPr>
            <a:r>
              <a:t>■ 계단 함수 (Step Function)</a:t>
            </a:r>
            <a:br/>
            <a:r>
              <a:t>   y = 1  (z &gt;= 0 일 때 : 참/발화)</a:t>
            </a:r>
            <a:br/>
            <a:r>
              <a:t>   y = 0  (z &lt; 0 일 때 : 거짓/침묵)</a:t>
            </a:r>
            <a:br/>
            <a:br/>
            <a:r>
              <a:t>★ 고1 수학과의 연결고리:</a:t>
            </a:r>
            <a:br/>
            <a:r>
              <a:t>   w1*x1 + w2*x2 + b = 0 은</a:t>
            </a:r>
            <a:br/>
            <a:r>
              <a:t>   좌표평면 위의 '직선의 방정식'!</a:t>
            </a:r>
            <a:br/>
            <a:r>
              <a:t>   퍼셉트론은 평면을 직선으로 양분하는 결정경계(Decision Boundary) 모델입니다.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10. 단층 퍼셉트론으로 AND / OR 게이트 분리하기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AND 게이트의 직선의 방정식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  <a:latin typeface="맑은 고딕"/>
              </a:defRPr>
            </a:pPr>
            <a:r>
              <a:t>■ 파라미터: w1 = 2, w2 = 2, b = -3</a:t>
            </a:r>
            <a:br/>
            <a:r>
              <a:t>■ 직선: 2*x1 + 2*x2 - 3 = 0</a:t>
            </a:r>
            <a:br/>
            <a:br/>
            <a:r>
              <a:t>[점 대입 판별]</a:t>
            </a:r>
            <a:br/>
            <a:r>
              <a:t>• (1, 1) → 2(1)+2(1)-3 = +1 &gt;= 0 → 1 (빨강)</a:t>
            </a:r>
            <a:br/>
            <a:r>
              <a:t>• (1, 0) → 2(1)+2(0)-3 = -1 &lt; 0  → 0 (파랑)</a:t>
            </a:r>
            <a:br/>
            <a:r>
              <a:t>• (0, 1) → 2(0)+2(1)-3 = -1 &lt; 0  → 0 (파랑)</a:t>
            </a:r>
            <a:br/>
            <a:r>
              <a:t>• (0, 0) → 2(0)+2(0)-3 = -3 &lt; 0  → 0 (파랑)</a:t>
            </a:r>
            <a:br/>
            <a:br/>
            <a:r>
              <a:t>→ (1,1)만 직선 위로 완벽 분리!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OR 게이트의 직선의 방정식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3A8A"/>
                </a:solidFill>
                <a:latin typeface="맑은 고딕"/>
              </a:defRPr>
            </a:pPr>
            <a:r>
              <a:t>■ 파라미터: w1 = 2, w2 = 2, b = -1</a:t>
            </a:r>
            <a:br/>
            <a:r>
              <a:t>■ 직선: 2*x1 + 2*x2 - 1 = 0</a:t>
            </a:r>
            <a:br/>
            <a:br/>
            <a:r>
              <a:t>[점 대입 판별]</a:t>
            </a:r>
            <a:br/>
            <a:r>
              <a:t>• (1, 1) → 2(1)+2(1)-1 = +3 &gt;= 0 → 1 (빨강)</a:t>
            </a:r>
            <a:br/>
            <a:r>
              <a:t>• (1, 0) → 2(1)+2(0)-1 = +1 &gt;= 0 → 1 (빨강)</a:t>
            </a:r>
            <a:br/>
            <a:r>
              <a:t>• (0, 1) → 2(0)+2(1)-1 = +1 &gt;= 0 → 1 (빨강)</a:t>
            </a:r>
            <a:br/>
            <a:r>
              <a:t>• (0, 0) → 2(0)+2(0)-1 = -1 &lt; 0  → 0 (파랑)</a:t>
            </a:r>
            <a:br/>
            <a:br/>
            <a:r>
              <a:t>→ (0,0)만 직선 아래로 완벽 분리!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11. 인공지능의 첫 번째 암흑기: XOR 선형 분리 불가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XOR 문제의 수학적 모순 증명 (마빈 민스키, 1969)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XOR 진리값: (0,0)→0, (1,1)→0   vs   (1,0)→1, (0,1)→1</a:t>
            </a:r>
            <a:br/>
            <a:br/>
            <a:r>
              <a:t>■ 4개의 연립부등식 형성:</a:t>
            </a:r>
            <a:br/>
            <a:r>
              <a:t>   1) (0, 0) 대입 : b &lt; 0</a:t>
            </a:r>
            <a:br/>
            <a:r>
              <a:t>   2) (1, 0) 대입 : w1 + b &gt;= 0  ⟹  w1 &gt;= -b &gt; 0</a:t>
            </a:r>
            <a:br/>
            <a:r>
              <a:t>   3) (0, 1) 대입 : w2 + b &gt;= 0  ⟹  w2 &gt;= -b &gt; 0</a:t>
            </a:r>
            <a:br/>
            <a:r>
              <a:t>   4) (1, 1) 대입 : w1 + w2 + b &lt; 0</a:t>
            </a:r>
            <a:br/>
            <a:br/>
            <a:r>
              <a:t>■ 모순 발생:</a:t>
            </a:r>
            <a:br/>
            <a:r>
              <a:t>   2)와 3)을 더하면 (w1 + w2) &gt;= -2b</a:t>
            </a:r>
            <a:br/>
            <a:r>
              <a:t>   양변에 b를 더하면: w1 + w2 + b &gt;= -b &gt; 0  (모순! 4번 부등식과 정면 충돌!)</a:t>
            </a:r>
            <a:br/>
            <a:br/>
            <a:r>
              <a:t>★ 결론: 단 하나의 직선으로는 XOR 평면을 절대로 분리할 수 없다! (선형 분리 불가)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12. 구원투수: 다층 퍼셉트론(MLP)과 논리 결합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XOR의 논리식 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집합과 명제를 이용한 분해:</a:t>
            </a:r>
            <a:br/>
            <a:r>
              <a:t>   XOR(x1, x2) = (x1 ∨ x2) ∧ ~(x1 ∧ x2)</a:t>
            </a:r>
            <a:br/>
            <a:r>
              <a:t>               = OR(x1, x2) ∧ NAND(x1, x2)</a:t>
            </a:r>
            <a:br/>
            <a:br/>
            <a:r>
              <a:t>■ 2개 층의 인공신경망 구성:</a:t>
            </a:r>
            <a:br/>
            <a:r>
              <a:t>   • 은닉층 노드 1: s1 = NAND(x1, x2)</a:t>
            </a:r>
            <a:br/>
            <a:r>
              <a:t>   • 은닉층 노드 2: s2 = OR(x1, x2)</a:t>
            </a:r>
            <a:br/>
            <a:r>
              <a:t>   • 출력층 노드  : y  = AND(s1, s2)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수학적 의미: 2개의 직선으로 비선형 영역 분할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  <a:latin typeface="맑은 고딕"/>
              </a:defRPr>
            </a:pPr>
            <a:r>
              <a:t>■ 층을 쌓으면 비선형 공간 분할이 가능!</a:t>
            </a:r>
            <a:br/>
            <a:r>
              <a:t>• 직선 1 (OR 경계선): (0,0)을 배제</a:t>
            </a:r>
            <a:br/>
            <a:r>
              <a:t>• 직선 2 (NAND 경계선): (1,1)을 배제</a:t>
            </a:r>
            <a:br/>
            <a:r>
              <a:t>• 두 직선 사이의 띠 모양 영역(교집합)에 (1,0)과 (0,1)만 남김!</a:t>
            </a:r>
            <a:br/>
            <a:br/>
            <a:r>
              <a:t>★ 이것이 바로 현대 '딥러닝(Deep Learning)'의 출발 원리입니다.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맑은 고딕"/>
              </a:defRPr>
            </a:pPr>
            <a:r>
              <a:t>고1 아카데미아 | 집합과 명제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맑은 고딕"/>
              </a:defRPr>
            </a:pPr>
            <a:r>
              <a:t>13. [3차시 예고] 파이썬 IDLE 실습 안내 (초보자 맞춤)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맑은 고딕"/>
              </a:defRPr>
            </a:pPr>
            <a:r>
              <a:t>마우스 슬라이더로 조작하는 직관적인 시각화 실습 3종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  <a:latin typeface="맑은 고딕"/>
              </a:defRPr>
            </a:pPr>
            <a:r>
              <a:t>■ 실습 1 : 파이썬 집합(Set) 연산과 드모르간 법칙 검증</a:t>
            </a:r>
            <a:br/>
            <a:r>
              <a:t>   → 복잡한 문법 없이 set 기호(&amp;, |, -)만으로 직관적인 진리집합 연산 확인</a:t>
            </a:r>
            <a:br/>
            <a:br/>
            <a:r>
              <a:t>■ 실습 2 : 명제 진리표 생성기 &amp; 필요·충분조건 판별</a:t>
            </a:r>
            <a:br/>
            <a:r>
              <a:t>   → 참/거짓 표를 직접 확인하고, 조건 간의 포함관계(P ⊆ Q)를 자동으로 판별</a:t>
            </a:r>
            <a:br/>
            <a:br/>
            <a:r>
              <a:t>■ 실습 3 : 🎮 인터랙티브 슬라이더 퍼셉트론 시뮬레이터 (핵심)</a:t>
            </a:r>
            <a:br/>
            <a:r>
              <a:t>   → 마우스로 w1, w2, b 슬라이더를 움직이며 직선이 회전/이동하는 과정을 실시간 관찰!</a:t>
            </a:r>
            <a:br/>
            <a:r>
              <a:t>   → AND, OR, NAND를 직접 맞춰보고, XOR의 선형 분리 불가와 다층 퍼셉트론의 해결을 눈으로 확인!</a:t>
            </a:r>
            <a:br/>
            <a:br/>
            <a:r>
              <a:t>★ 4차시에는 슬라이더 실습 결과를 바탕으로 세특 탐구보고서를 완성합니다.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